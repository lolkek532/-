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53" r:id="rId5"/>
    <p:sldId id="354" r:id="rId6"/>
    <p:sldId id="359" r:id="rId7"/>
    <p:sldId id="362" r:id="rId8"/>
    <p:sldId id="363" r:id="rId9"/>
    <p:sldId id="365" r:id="rId10"/>
    <p:sldId id="366" r:id="rId11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5" autoAdjust="0"/>
    <p:restoredTop sz="95388" autoAdjust="0"/>
  </p:normalViewPr>
  <p:slideViewPr>
    <p:cSldViewPr snapToGrid="0" snapToObjects="1">
      <p:cViewPr varScale="1">
        <p:scale>
          <a:sx n="86" d="100"/>
          <a:sy n="86" d="100"/>
        </p:scale>
        <p:origin x="773" y="5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rtlCol="0"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rtlCol="0"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170527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493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  <p:sldLayoutId id="2147483694" r:id="rId19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5412" y="0"/>
            <a:ext cx="12186588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099" y="2250265"/>
            <a:ext cx="6285021" cy="189436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/>
          <a:lstStyle/>
          <a:p>
            <a:pPr>
              <a:lnSpc>
                <a:spcPct val="90000"/>
              </a:lnSpc>
              <a:spcBef>
                <a:spcPts val="360"/>
              </a:spcBef>
            </a:pPr>
            <a:r>
              <a:rPr lang="ru-RU" sz="2000" dirty="0" err="1"/>
              <a:t>MoodMap</a:t>
            </a:r>
            <a:r>
              <a:rPr lang="ru-RU" sz="2000" dirty="0"/>
              <a:t> Ultimate — это </a:t>
            </a:r>
            <a:r>
              <a:rPr lang="ru-RU" sz="1800" dirty="0"/>
              <a:t>многофункциональное веб-приложение на </a:t>
            </a:r>
            <a:r>
              <a:rPr lang="ru-RU" sz="1800" dirty="0" err="1"/>
              <a:t>Flask</a:t>
            </a:r>
            <a:r>
              <a:rPr lang="ru-RU" sz="1800" dirty="0"/>
              <a:t> для отслеживания эмоционального состояния, ведения личного дневника и общения с друзьями. Проект сочетает в себе элементы дневника, социальной сети и игровые механики.</a:t>
            </a:r>
            <a:endParaRPr lang="ru" sz="2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149" y="4738580"/>
            <a:ext cx="6051550" cy="10663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>
            <a:normAutofit fontScale="92500" lnSpcReduction="10000"/>
          </a:bodyPr>
          <a:lstStyle/>
          <a:p>
            <a:pPr rtl="0"/>
            <a:r>
              <a:rPr lang="ru" dirty="0"/>
              <a:t>Проект подготовили</a:t>
            </a:r>
            <a:r>
              <a:rPr lang="en-US" dirty="0"/>
              <a:t>:</a:t>
            </a:r>
            <a:r>
              <a:rPr lang="ru-RU" dirty="0"/>
              <a:t> Евстигнеев Федор, Наливайко Анна, Сердюк Федор.</a:t>
            </a:r>
          </a:p>
          <a:p>
            <a:pPr rtl="0"/>
            <a:r>
              <a:rPr lang="ru" dirty="0"/>
              <a:t>Преподаватель</a:t>
            </a:r>
            <a:r>
              <a:rPr lang="en-US" dirty="0"/>
              <a:t>:</a:t>
            </a:r>
            <a:r>
              <a:rPr lang="ru-RU" dirty="0"/>
              <a:t> Панарин Алексей Сергеевич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84274" y="4488524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024" y="1859574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76C7618-0BD0-4021-B527-06CB377E8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832258" y="542216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782744" y="654602"/>
            <a:ext cx="6203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cap="all" dirty="0" err="1">
                <a:solidFill>
                  <a:schemeClr val="bg1"/>
                </a:solidFill>
              </a:rPr>
              <a:t>MoodMap</a:t>
            </a:r>
            <a:r>
              <a:rPr lang="ru-RU" sz="3200" b="1" cap="all" dirty="0">
                <a:solidFill>
                  <a:schemeClr val="bg1"/>
                </a:solidFill>
              </a:rPr>
              <a:t> Ultimate </a:t>
            </a:r>
          </a:p>
        </p:txBody>
      </p:sp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4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215369" y="-230287"/>
            <a:ext cx="12622738" cy="71808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196" y="721634"/>
            <a:ext cx="8810581" cy="536869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/>
          <a:lstStyle/>
          <a:p>
            <a:r>
              <a:rPr lang="ru-RU" sz="1800" dirty="0">
                <a:latin typeface="+mn-lt"/>
                <a:ea typeface="+mn-ea"/>
                <a:cs typeface="+mn-cs"/>
              </a:rPr>
              <a:t>Библиотеки которые мы использовали для создания</a:t>
            </a:r>
            <a:r>
              <a:rPr lang="en-US" sz="1800" dirty="0">
                <a:latin typeface="+mn-lt"/>
                <a:ea typeface="+mn-ea"/>
                <a:cs typeface="+mn-cs"/>
              </a:rPr>
              <a:t> </a:t>
            </a:r>
            <a:r>
              <a:rPr lang="ru-RU" sz="1800" dirty="0">
                <a:latin typeface="+mn-lt"/>
                <a:ea typeface="+mn-ea"/>
                <a:cs typeface="+mn-cs"/>
              </a:rPr>
              <a:t>проекта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Gill Sans Nova Light" panose="020F0302020204030204" pitchFamily="34" charset="0"/>
                <a:ea typeface="+mn-ea"/>
                <a:cs typeface="Gill Sans Nova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</a:t>
            </a:fld>
            <a:endParaRPr lang="en-US" dirty="0"/>
          </a:p>
        </p:txBody>
      </p:sp>
      <p:sp>
        <p:nvSpPr>
          <p:cNvPr id="11" name="Табличка 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7856" y="250851"/>
            <a:ext cx="9225550" cy="1586405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C1E0B-E4D0-49B0-A944-A4FD54D19E25}"/>
              </a:ext>
            </a:extLst>
          </p:cNvPr>
          <p:cNvSpPr txBox="1"/>
          <p:nvPr/>
        </p:nvSpPr>
        <p:spPr>
          <a:xfrm>
            <a:off x="346229" y="2460802"/>
            <a:ext cx="11372295" cy="36933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b="1" cap="all" dirty="0" err="1">
                <a:solidFill>
                  <a:schemeClr val="bg1"/>
                </a:solidFill>
              </a:rPr>
              <a:t>Flask</a:t>
            </a:r>
            <a:r>
              <a:rPr lang="ru-RU" b="1" cap="all" dirty="0">
                <a:solidFill>
                  <a:schemeClr val="bg1"/>
                </a:solidFill>
              </a:rPr>
              <a:t> — </a:t>
            </a:r>
            <a:r>
              <a:rPr lang="ru-RU" b="1" cap="all" dirty="0" err="1">
                <a:solidFill>
                  <a:schemeClr val="bg1"/>
                </a:solidFill>
              </a:rPr>
              <a:t>микрофреймворк</a:t>
            </a:r>
            <a:r>
              <a:rPr lang="ru-RU" b="1" cap="all" dirty="0">
                <a:solidFill>
                  <a:schemeClr val="bg1"/>
                </a:solidFill>
              </a:rPr>
              <a:t> для веб-приложений. Обрабатывает HTTP-запросы, маршрутизацию, шаблоны и сессии.</a:t>
            </a:r>
          </a:p>
          <a:p>
            <a:r>
              <a:rPr lang="ru-RU" b="1" cap="all" dirty="0" err="1">
                <a:solidFill>
                  <a:schemeClr val="bg1"/>
                </a:solidFill>
              </a:rPr>
              <a:t>SQLAlchemy</a:t>
            </a:r>
            <a:r>
              <a:rPr lang="ru-RU" b="1" cap="all" dirty="0">
                <a:solidFill>
                  <a:schemeClr val="bg1"/>
                </a:solidFill>
              </a:rPr>
              <a:t> — ORM (Object-</a:t>
            </a:r>
            <a:r>
              <a:rPr lang="ru-RU" b="1" cap="all" dirty="0" err="1">
                <a:solidFill>
                  <a:schemeClr val="bg1"/>
                </a:solidFill>
              </a:rPr>
              <a:t>Relational</a:t>
            </a:r>
            <a:r>
              <a:rPr lang="ru-RU" b="1" cap="all" dirty="0">
                <a:solidFill>
                  <a:schemeClr val="bg1"/>
                </a:solidFill>
              </a:rPr>
              <a:t> </a:t>
            </a:r>
            <a:r>
              <a:rPr lang="ru-RU" b="1" cap="all" dirty="0" err="1">
                <a:solidFill>
                  <a:schemeClr val="bg1"/>
                </a:solidFill>
              </a:rPr>
              <a:t>Mapping</a:t>
            </a:r>
            <a:r>
              <a:rPr lang="ru-RU" b="1" cap="all" dirty="0">
                <a:solidFill>
                  <a:schemeClr val="bg1"/>
                </a:solidFill>
              </a:rPr>
              <a:t>) для работы с базами данных. Позволяет работать с БД через Python-объекты вместо SQL-запросов.</a:t>
            </a:r>
          </a:p>
          <a:p>
            <a:r>
              <a:rPr lang="ru-RU" b="1" cap="all" dirty="0" err="1">
                <a:solidFill>
                  <a:schemeClr val="bg1"/>
                </a:solidFill>
              </a:rPr>
              <a:t>Flask-Login</a:t>
            </a:r>
            <a:r>
              <a:rPr lang="ru-RU" b="1" cap="all" dirty="0">
                <a:solidFill>
                  <a:schemeClr val="bg1"/>
                </a:solidFill>
              </a:rPr>
              <a:t> — управление аутентификацией пользователей. Обрабатывает вход/выход, защищает маршруты декоратором.</a:t>
            </a:r>
          </a:p>
          <a:p>
            <a:r>
              <a:rPr lang="ru-RU" b="1" cap="all" dirty="0" err="1">
                <a:solidFill>
                  <a:schemeClr val="bg1"/>
                </a:solidFill>
              </a:rPr>
              <a:t>Flask-SocketIO</a:t>
            </a:r>
            <a:r>
              <a:rPr lang="ru-RU" b="1" cap="all" dirty="0">
                <a:solidFill>
                  <a:schemeClr val="bg1"/>
                </a:solidFill>
              </a:rPr>
              <a:t> — реализация </a:t>
            </a:r>
            <a:r>
              <a:rPr lang="ru-RU" b="1" cap="all" dirty="0" err="1">
                <a:solidFill>
                  <a:schemeClr val="bg1"/>
                </a:solidFill>
              </a:rPr>
              <a:t>WebSocket</a:t>
            </a:r>
            <a:r>
              <a:rPr lang="ru-RU" b="1" cap="all" dirty="0">
                <a:solidFill>
                  <a:schemeClr val="bg1"/>
                </a:solidFill>
              </a:rPr>
              <a:t> для реального времени. Используется для мгновенного чата и индикатора набора текста.</a:t>
            </a:r>
          </a:p>
          <a:p>
            <a:r>
              <a:rPr lang="ru-RU" b="1" cap="all" dirty="0" err="1">
                <a:solidFill>
                  <a:schemeClr val="bg1"/>
                </a:solidFill>
              </a:rPr>
              <a:t>Werkzeug</a:t>
            </a:r>
            <a:r>
              <a:rPr lang="ru-RU" b="1" cap="all" dirty="0">
                <a:solidFill>
                  <a:schemeClr val="bg1"/>
                </a:solidFill>
              </a:rPr>
              <a:t> — утилиты для безопасности. </a:t>
            </a:r>
            <a:r>
              <a:rPr lang="ru-RU" b="1" cap="all" dirty="0" err="1">
                <a:solidFill>
                  <a:schemeClr val="bg1"/>
                </a:solidFill>
              </a:rPr>
              <a:t>Хеширует</a:t>
            </a:r>
            <a:r>
              <a:rPr lang="ru-RU" b="1" cap="all" dirty="0">
                <a:solidFill>
                  <a:schemeClr val="bg1"/>
                </a:solidFill>
              </a:rPr>
              <a:t> пароли перед сохранением в БД.</a:t>
            </a:r>
          </a:p>
          <a:p>
            <a:r>
              <a:rPr lang="ru-RU" b="1" cap="all" dirty="0" err="1">
                <a:solidFill>
                  <a:schemeClr val="bg1"/>
                </a:solidFill>
              </a:rPr>
              <a:t>TextBlob</a:t>
            </a:r>
            <a:r>
              <a:rPr lang="ru-RU" b="1" cap="all" dirty="0">
                <a:solidFill>
                  <a:schemeClr val="bg1"/>
                </a:solidFill>
              </a:rPr>
              <a:t> — библиотека для анализа текста. Используется для определения тональности (</a:t>
            </a:r>
            <a:r>
              <a:rPr lang="ru-RU" b="1" cap="all" dirty="0" err="1">
                <a:solidFill>
                  <a:schemeClr val="bg1"/>
                </a:solidFill>
              </a:rPr>
              <a:t>sentiment</a:t>
            </a:r>
            <a:r>
              <a:rPr lang="ru-RU" b="1" cap="all" dirty="0">
                <a:solidFill>
                  <a:schemeClr val="bg1"/>
                </a:solidFill>
              </a:rPr>
              <a:t> </a:t>
            </a:r>
            <a:r>
              <a:rPr lang="ru-RU" b="1" cap="all" dirty="0" err="1">
                <a:solidFill>
                  <a:schemeClr val="bg1"/>
                </a:solidFill>
              </a:rPr>
              <a:t>analysis</a:t>
            </a:r>
            <a:r>
              <a:rPr lang="ru-RU" b="1" cap="all" dirty="0">
                <a:solidFill>
                  <a:schemeClr val="bg1"/>
                </a:solidFill>
              </a:rPr>
              <a:t>) записей пользователя.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1" y="0"/>
            <a:ext cx="12192000" cy="6876071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357" y="2583402"/>
            <a:ext cx="9344050" cy="2405861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/>
          <a:lstStyle/>
          <a:p>
            <a:pPr algn="l" defTabSz="457200">
              <a:lnSpc>
                <a:spcPct val="90000"/>
              </a:lnSpc>
            </a:pPr>
            <a:r>
              <a:rPr lang="ru-RU" sz="2000" dirty="0" err="1"/>
              <a:t>os</a:t>
            </a:r>
            <a:r>
              <a:rPr lang="ru-RU" sz="2000" dirty="0"/>
              <a:t>/</a:t>
            </a:r>
            <a:r>
              <a:rPr lang="ru-RU" sz="2000" dirty="0" err="1"/>
              <a:t>shutil</a:t>
            </a:r>
            <a:r>
              <a:rPr lang="ru-RU" sz="2000" dirty="0"/>
              <a:t> — работа с файловой системой</a:t>
            </a:r>
            <a:br>
              <a:rPr lang="ru-RU" sz="2000" dirty="0"/>
            </a:br>
            <a:r>
              <a:rPr lang="ru-RU" sz="2000" dirty="0" err="1"/>
              <a:t>webbrowser</a:t>
            </a:r>
            <a:r>
              <a:rPr lang="ru-RU" sz="2000" dirty="0"/>
              <a:t>/</a:t>
            </a:r>
            <a:r>
              <a:rPr lang="ru-RU" sz="2000" dirty="0" err="1"/>
              <a:t>threading</a:t>
            </a:r>
            <a:r>
              <a:rPr lang="ru-RU" sz="2000" dirty="0"/>
              <a:t> — автоматическое открытие браузера при запуске</a:t>
            </a:r>
            <a:br>
              <a:rPr lang="ru-RU" sz="2000" dirty="0"/>
            </a:br>
            <a:r>
              <a:rPr lang="ru-RU" sz="2000" dirty="0" err="1"/>
              <a:t>random</a:t>
            </a:r>
            <a:r>
              <a:rPr lang="ru-RU" sz="2000" dirty="0"/>
              <a:t> — генерация случайных цитат и рекомендаций</a:t>
            </a:r>
            <a:br>
              <a:rPr lang="ru-RU" sz="2000" dirty="0"/>
            </a:br>
            <a:r>
              <a:rPr lang="ru-RU" sz="2000" dirty="0" err="1"/>
              <a:t>re</a:t>
            </a:r>
            <a:r>
              <a:rPr lang="ru-RU" sz="2000" dirty="0"/>
              <a:t> — регулярные выражения для поиска тегов #хештег</a:t>
            </a:r>
            <a:br>
              <a:rPr lang="ru-RU" sz="2000" dirty="0"/>
            </a:br>
            <a:r>
              <a:rPr lang="ru-RU" sz="2000" dirty="0" err="1"/>
              <a:t>calendar</a:t>
            </a:r>
            <a:r>
              <a:rPr lang="ru-RU" sz="2000" dirty="0"/>
              <a:t> — построение календаря настроения</a:t>
            </a:r>
            <a:br>
              <a:rPr lang="ru-RU" sz="2000" dirty="0"/>
            </a:br>
            <a:r>
              <a:rPr lang="ru-RU" sz="2000" dirty="0" err="1"/>
              <a:t>datetime</a:t>
            </a:r>
            <a:r>
              <a:rPr lang="ru-RU" sz="2000" dirty="0"/>
              <a:t> — работа с датами и стриками</a:t>
            </a:r>
            <a:br>
              <a:rPr lang="ru-RU" sz="2000" dirty="0"/>
            </a:br>
            <a:r>
              <a:rPr lang="ru-RU" sz="2000" dirty="0"/>
              <a:t>Counter — подсчет частоты слов для облака тегов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818256" y="6703657"/>
            <a:ext cx="251201" cy="457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>
            <a:normAutofit fontScale="25000" lnSpcReduction="20000"/>
          </a:bodyPr>
          <a:lstStyle/>
          <a:p>
            <a:pPr rtl="0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1069457" y="1243436"/>
            <a:ext cx="7970637" cy="5232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ru-RU" sz="2800" b="1" dirty="0">
                <a:solidFill>
                  <a:schemeClr val="bg1"/>
                </a:solidFill>
                <a:effectLst/>
                <a:latin typeface="quote-cjk-patch"/>
              </a:rPr>
              <a:t>Вспомогательные библиотеки:</a:t>
            </a:r>
          </a:p>
        </p:txBody>
      </p:sp>
    </p:spTree>
    <p:extLst>
      <p:ext uri="{BB962C8B-B14F-4D97-AF65-F5344CB8AC3E}">
        <p14:creationId xmlns:p14="http://schemas.microsoft.com/office/powerpoint/2010/main" val="2987312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337352" y="-38287"/>
            <a:ext cx="12866703" cy="74948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369903" y="821465"/>
            <a:ext cx="5726097" cy="3693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b="1" cap="all" dirty="0">
                <a:solidFill>
                  <a:schemeClr val="bg1"/>
                </a:solidFill>
              </a:rPr>
              <a:t>КЛЮЧЕВЫЕ ФУНКЦИИ И МОДУЛИ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4BAC618-90EB-4D5A-9A64-3E11FC90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262" y="598474"/>
            <a:ext cx="5069150" cy="297510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cap="all" dirty="0">
                <a:solidFill>
                  <a:schemeClr val="bg1"/>
                </a:solidFill>
              </a:rPr>
              <a:t>Важные методы User: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cap="all" dirty="0" err="1">
                <a:solidFill>
                  <a:schemeClr val="bg1"/>
                </a:solidFill>
              </a:rPr>
              <a:t>set_password</a:t>
            </a:r>
            <a:r>
              <a:rPr lang="ru-RU" altLang="ru-RU" b="1" cap="all" dirty="0">
                <a:solidFill>
                  <a:schemeClr val="bg1"/>
                </a:solidFill>
              </a:rPr>
              <a:t>() / </a:t>
            </a:r>
            <a:r>
              <a:rPr lang="ru-RU" altLang="ru-RU" b="1" cap="all" dirty="0" err="1">
                <a:solidFill>
                  <a:schemeClr val="bg1"/>
                </a:solidFill>
              </a:rPr>
              <a:t>check_password</a:t>
            </a:r>
            <a:r>
              <a:rPr lang="ru-RU" altLang="ru-RU" b="1" cap="all" dirty="0">
                <a:solidFill>
                  <a:schemeClr val="bg1"/>
                </a:solidFill>
              </a:rPr>
              <a:t>() — безопасная работа с паролями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cap="all" dirty="0" err="1">
                <a:solidFill>
                  <a:schemeClr val="bg1"/>
                </a:solidFill>
              </a:rPr>
              <a:t>update_streak</a:t>
            </a:r>
            <a:r>
              <a:rPr lang="ru-RU" altLang="ru-RU" b="1" cap="all" dirty="0">
                <a:solidFill>
                  <a:schemeClr val="bg1"/>
                </a:solidFill>
              </a:rPr>
              <a:t>() — обновление серии записей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cap="all" dirty="0" err="1">
                <a:solidFill>
                  <a:schemeClr val="bg1"/>
                </a:solidFill>
              </a:rPr>
              <a:t>claim_daily_reward</a:t>
            </a:r>
            <a:r>
              <a:rPr lang="ru-RU" altLang="ru-RU" b="1" cap="all" dirty="0">
                <a:solidFill>
                  <a:schemeClr val="bg1"/>
                </a:solidFill>
              </a:rPr>
              <a:t>() — получение ежедневной награды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cap="all" dirty="0" err="1">
                <a:solidFill>
                  <a:schemeClr val="bg1"/>
                </a:solidFill>
              </a:rPr>
              <a:t>send_friend_request</a:t>
            </a:r>
            <a:r>
              <a:rPr lang="ru-RU" altLang="ru-RU" b="1" cap="all" dirty="0">
                <a:solidFill>
                  <a:schemeClr val="bg1"/>
                </a:solidFill>
              </a:rPr>
              <a:t>() — отправка заявки в друзья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0C163-78D2-4958-AA5D-080826A27285}"/>
              </a:ext>
            </a:extLst>
          </p:cNvPr>
          <p:cNvSpPr txBox="1"/>
          <p:nvPr/>
        </p:nvSpPr>
        <p:spPr>
          <a:xfrm>
            <a:off x="0" y="2594669"/>
            <a:ext cx="6402588" cy="286232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b="1" cap="all" dirty="0">
                <a:solidFill>
                  <a:schemeClr val="bg1"/>
                </a:solidFill>
              </a:rPr>
              <a:t>МОДЕЛИ ДАННЫХ (</a:t>
            </a:r>
            <a:r>
              <a:rPr lang="ru-RU" b="1" cap="all" dirty="0" err="1">
                <a:solidFill>
                  <a:schemeClr val="bg1"/>
                </a:solidFill>
              </a:rPr>
              <a:t>app</a:t>
            </a:r>
            <a:r>
              <a:rPr lang="ru-RU" b="1" cap="all" dirty="0">
                <a:solidFill>
                  <a:schemeClr val="bg1"/>
                </a:solidFill>
              </a:rPr>
              <a:t>/models.py)</a:t>
            </a:r>
          </a:p>
          <a:p>
            <a:r>
              <a:rPr lang="ru-RU" b="1" cap="all" dirty="0">
                <a:solidFill>
                  <a:schemeClr val="bg1"/>
                </a:solidFill>
              </a:rPr>
              <a:t>АНАЛИЗ НАСТРОЕНИЯ (</a:t>
            </a:r>
            <a:r>
              <a:rPr lang="ru-RU" b="1" cap="all" dirty="0" err="1">
                <a:solidFill>
                  <a:schemeClr val="bg1"/>
                </a:solidFill>
              </a:rPr>
              <a:t>app</a:t>
            </a:r>
            <a:r>
              <a:rPr lang="ru-RU" b="1" cap="all" dirty="0">
                <a:solidFill>
                  <a:schemeClr val="bg1"/>
                </a:solidFill>
              </a:rPr>
              <a:t>/utils.py) Уникальная особенность: комбинирует машинный анализ (</a:t>
            </a:r>
            <a:r>
              <a:rPr lang="ru-RU" b="1" cap="all" dirty="0" err="1">
                <a:solidFill>
                  <a:schemeClr val="bg1"/>
                </a:solidFill>
              </a:rPr>
              <a:t>TextBlob</a:t>
            </a:r>
            <a:r>
              <a:rPr lang="ru-RU" b="1" cap="all" dirty="0">
                <a:solidFill>
                  <a:schemeClr val="bg1"/>
                </a:solidFill>
              </a:rPr>
              <a:t>) с ручным словарным методом, что повышает точность для русского языка и сленга.</a:t>
            </a:r>
          </a:p>
          <a:p>
            <a:r>
              <a:rPr lang="en-US" b="1" cap="all" dirty="0">
                <a:solidFill>
                  <a:schemeClr val="bg1"/>
                </a:solidFill>
              </a:rPr>
              <a:t>WebSocket </a:t>
            </a:r>
            <a:r>
              <a:rPr lang="ru-RU" b="1" cap="all" dirty="0">
                <a:solidFill>
                  <a:schemeClr val="bg1"/>
                </a:solidFill>
              </a:rPr>
              <a:t>ЧАТ (</a:t>
            </a:r>
            <a:r>
              <a:rPr lang="en-US" b="1" cap="all" dirty="0">
                <a:solidFill>
                  <a:schemeClr val="bg1"/>
                </a:solidFill>
              </a:rPr>
              <a:t>app/blueprints/chat.py)</a:t>
            </a:r>
            <a:r>
              <a:rPr lang="ru-RU" b="1" cap="all" dirty="0">
                <a:solidFill>
                  <a:schemeClr val="bg1"/>
                </a:solidFill>
              </a:rPr>
              <a:t> Инновация: индикатор "печатает..." — отправляет событие при каждом вводе текста.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9C204A9A-7AC1-49E1-AD66-7EAE2F6111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66362" y="3555395"/>
            <a:ext cx="5019050" cy="331366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</a:t>
            </a:r>
            <a:r>
              <a:rPr lang="ru-RU" altLang="ru-RU" sz="1400" b="1" cap="all" dirty="0"/>
              <a:t>ЗАЩИТА ПРОЕКТА (ДЛЯ ЗАЩИТЫ)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/>
              <a:t>Технические аспекты: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ru-RU" altLang="ru-RU" sz="1400" b="1" cap="all" dirty="0"/>
              <a:t>Хеширование паролей — </a:t>
            </a:r>
            <a:r>
              <a:rPr lang="ru-RU" altLang="ru-RU" sz="1400" b="1" cap="all" dirty="0" err="1"/>
              <a:t>werkzeug.security</a:t>
            </a:r>
            <a:r>
              <a:rPr lang="ru-RU" altLang="ru-RU" sz="1400" b="1" cap="all" dirty="0"/>
              <a:t> предотвращает утечку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ru-RU" altLang="ru-RU" sz="1400" b="1" cap="all" dirty="0"/>
              <a:t>Защита маршрутов — декоратор @login_required не пускает неавторизованных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ru-RU" altLang="ru-RU" sz="1400" b="1" cap="all" dirty="0"/>
              <a:t>SQL </a:t>
            </a:r>
            <a:r>
              <a:rPr lang="ru-RU" altLang="ru-RU" sz="1400" b="1" cap="all" dirty="0" err="1"/>
              <a:t>Injection</a:t>
            </a:r>
            <a:r>
              <a:rPr lang="ru-RU" altLang="ru-RU" sz="1400" b="1" cap="all" dirty="0"/>
              <a:t> защита — </a:t>
            </a:r>
            <a:r>
              <a:rPr lang="ru-RU" altLang="ru-RU" sz="1400" b="1" cap="all" dirty="0" err="1"/>
              <a:t>SQLAlchemy</a:t>
            </a:r>
            <a:r>
              <a:rPr lang="ru-RU" altLang="ru-RU" sz="1400" b="1" cap="all" dirty="0"/>
              <a:t> автоматически экранирует параметры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ru-RU" altLang="ru-RU" sz="1400" b="1" cap="all" dirty="0"/>
              <a:t>CSRF защита — </a:t>
            </a:r>
            <a:r>
              <a:rPr lang="ru-RU" altLang="ru-RU" sz="1400" b="1" cap="all" dirty="0" err="1"/>
              <a:t>Flask</a:t>
            </a:r>
            <a:r>
              <a:rPr lang="ru-RU" altLang="ru-RU" sz="1400" b="1" cap="all" dirty="0"/>
              <a:t>-WTF (можно добавить)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ru-RU" altLang="ru-RU" sz="1400" b="1" cap="all" dirty="0"/>
              <a:t>XSS защита — Jinja2 автоматически экранирует вывод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276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319149" y="6143607"/>
            <a:ext cx="2489371" cy="59791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>
            <a:normAutofit fontScale="25000" lnSpcReduction="20000"/>
          </a:bodyPr>
          <a:lstStyle/>
          <a:p>
            <a:pPr rtl="0"/>
            <a:endParaRPr lang="ru-RU" dirty="0"/>
          </a:p>
        </p:txBody>
      </p: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024" y="1859574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385853" y="345012"/>
            <a:ext cx="6203982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3200" b="1" cap="all" dirty="0">
                <a:solidFill>
                  <a:schemeClr val="bg1"/>
                </a:solidFill>
              </a:rPr>
              <a:t>ОСОБЕННОСТИ ПРОЕКТА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119687-ABFF-4D19-A462-E078EC7BB9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02467" y="2089301"/>
            <a:ext cx="6284913" cy="38164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457200" eaLnBrk="1" hangingPunct="1">
              <a:lnSpc>
                <a:spcPct val="100000"/>
              </a:lnSpc>
            </a:pPr>
            <a:r>
              <a:rPr lang="ru-RU" altLang="ru-RU" sz="2000" dirty="0">
                <a:solidFill>
                  <a:schemeClr val="bg1"/>
                </a:solidFill>
                <a:latin typeface="+mn-lt"/>
              </a:rPr>
              <a:t>PWA (</a:t>
            </a:r>
            <a:r>
              <a:rPr lang="ru-RU" altLang="ru-RU" sz="2000" dirty="0" err="1">
                <a:solidFill>
                  <a:schemeClr val="bg1"/>
                </a:solidFill>
                <a:latin typeface="+mn-lt"/>
              </a:rPr>
              <a:t>Progressive</a:t>
            </a:r>
            <a:r>
              <a:rPr lang="ru-RU" altLang="ru-RU" sz="2000" dirty="0">
                <a:solidFill>
                  <a:schemeClr val="bg1"/>
                </a:solidFill>
                <a:latin typeface="+mn-lt"/>
              </a:rPr>
              <a:t> Web </a:t>
            </a:r>
            <a:r>
              <a:rPr lang="ru-RU" altLang="ru-RU" sz="2000" dirty="0" err="1">
                <a:solidFill>
                  <a:schemeClr val="bg1"/>
                </a:solidFill>
                <a:latin typeface="+mn-lt"/>
              </a:rPr>
              <a:t>App</a:t>
            </a:r>
            <a:r>
              <a:rPr lang="ru-RU" altLang="ru-RU" sz="2000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 algn="l" defTabSz="457200" eaLnBrk="1" hangingPunct="1">
              <a:lnSpc>
                <a:spcPct val="100000"/>
              </a:lnSpc>
            </a:pPr>
            <a:r>
              <a:rPr lang="ru-RU" altLang="ru-RU" sz="2000" dirty="0">
                <a:solidFill>
                  <a:schemeClr val="bg1"/>
                </a:solidFill>
                <a:latin typeface="+mn-lt"/>
              </a:rPr>
              <a:t>Приложение можно установить на домашний экран телефона как нативное!</a:t>
            </a:r>
            <a:br>
              <a:rPr lang="ru-RU" altLang="ru-RU" sz="2000" dirty="0">
                <a:solidFill>
                  <a:schemeClr val="bg1"/>
                </a:solidFill>
                <a:latin typeface="+mn-lt"/>
              </a:rPr>
            </a:br>
            <a:r>
              <a:rPr lang="ru-RU" sz="2000" dirty="0">
                <a:solidFill>
                  <a:schemeClr val="bg1"/>
                </a:solidFill>
                <a:latin typeface="+mn-lt"/>
              </a:rPr>
              <a:t>Адаптивный дизайн</a:t>
            </a:r>
            <a:br>
              <a:rPr lang="ru-RU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CSS Grid/Flexbox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ru-RU" sz="2000" dirty="0">
                <a:solidFill>
                  <a:schemeClr val="bg1"/>
                </a:solidFill>
                <a:latin typeface="+mn-lt"/>
              </a:rPr>
              <a:t>Медиа-запросы для мобильных</a:t>
            </a:r>
            <a:br>
              <a:rPr lang="ru-RU" sz="2000" dirty="0">
                <a:solidFill>
                  <a:schemeClr val="bg1"/>
                </a:solidFill>
                <a:latin typeface="+mn-lt"/>
              </a:rPr>
            </a:br>
            <a:r>
              <a:rPr lang="ru-RU" sz="2000" dirty="0">
                <a:solidFill>
                  <a:schemeClr val="bg1"/>
                </a:solidFill>
                <a:latin typeface="+mn-lt"/>
              </a:rPr>
              <a:t>Стеклянная морфология (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backdrop-filter)</a:t>
            </a:r>
            <a:br>
              <a:rPr lang="ru-RU" sz="2000" dirty="0">
                <a:solidFill>
                  <a:schemeClr val="bg1"/>
                </a:solidFill>
                <a:latin typeface="+mn-lt"/>
              </a:rPr>
            </a:br>
            <a:r>
              <a:rPr lang="ru-RU" sz="2000" dirty="0">
                <a:solidFill>
                  <a:schemeClr val="bg1"/>
                </a:solidFill>
                <a:latin typeface="+mn-lt"/>
              </a:rPr>
              <a:t>Голосовой ввод </a:t>
            </a:r>
            <a:br>
              <a:rPr lang="ru-RU" sz="1000" b="1" dirty="0">
                <a:solidFill>
                  <a:schemeClr val="bg1"/>
                </a:solidFill>
                <a:effectLst/>
                <a:latin typeface="quote-cjk-patch"/>
              </a:rPr>
            </a:br>
            <a:r>
              <a:rPr lang="ru-RU" sz="2000" dirty="0">
                <a:solidFill>
                  <a:schemeClr val="bg1"/>
                </a:solidFill>
                <a:latin typeface="+mn-lt"/>
              </a:rPr>
              <a:t>Пользователь может диктовать записи голосом!</a:t>
            </a:r>
            <a:endParaRPr lang="ru-RU" altLang="ru-RU" sz="2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2505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1" y="-740626"/>
            <a:ext cx="12191999" cy="81667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706083" y="486581"/>
            <a:ext cx="5872270" cy="120032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600" b="1" cap="all" dirty="0">
                <a:solidFill>
                  <a:schemeClr val="bg1"/>
                </a:solidFill>
              </a:rPr>
              <a:t>Ключевые возможности: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4BAC618-90EB-4D5A-9A64-3E11FC90F50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885412" y="1844969"/>
            <a:ext cx="81686" cy="4821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0C163-78D2-4958-AA5D-080826A27285}"/>
              </a:ext>
            </a:extLst>
          </p:cNvPr>
          <p:cNvSpPr txBox="1"/>
          <p:nvPr/>
        </p:nvSpPr>
        <p:spPr>
          <a:xfrm>
            <a:off x="2963969" y="2169433"/>
            <a:ext cx="8176334" cy="283154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ИИ-анализ эмоционального состояния текста с точностью до 85%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Система стриков и уровней для мотивации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Чат в реальном времени через </a:t>
            </a:r>
            <a:r>
              <a:rPr lang="ru-RU" sz="1600" b="1" cap="all" dirty="0" err="1">
                <a:solidFill>
                  <a:schemeClr val="bg1"/>
                </a:solidFill>
              </a:rPr>
              <a:t>WebSocket</a:t>
            </a:r>
            <a:endParaRPr lang="ru-RU" sz="1600" b="1" cap="all" dirty="0">
              <a:solidFill>
                <a:schemeClr val="bg1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PWA — установка на телефон без </a:t>
            </a:r>
            <a:r>
              <a:rPr lang="ru-RU" sz="1600" b="1" cap="all" dirty="0" err="1">
                <a:solidFill>
                  <a:schemeClr val="bg1"/>
                </a:solidFill>
              </a:rPr>
              <a:t>App</a:t>
            </a:r>
            <a:r>
              <a:rPr lang="ru-RU" sz="1600" b="1" cap="all" dirty="0">
                <a:solidFill>
                  <a:schemeClr val="bg1"/>
                </a:solidFill>
              </a:rPr>
              <a:t> Store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Голосовой ввод записей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1600" b="1" cap="all" dirty="0">
                <a:solidFill>
                  <a:schemeClr val="bg1"/>
                </a:solidFill>
              </a:rPr>
              <a:t>Годовой отчёт '</a:t>
            </a:r>
            <a:r>
              <a:rPr lang="ru-RU" sz="1600" b="1" cap="all" dirty="0" err="1">
                <a:solidFill>
                  <a:schemeClr val="bg1"/>
                </a:solidFill>
              </a:rPr>
              <a:t>Wrapped</a:t>
            </a:r>
            <a:r>
              <a:rPr lang="ru-RU" sz="1600" b="1" cap="all" dirty="0">
                <a:solidFill>
                  <a:schemeClr val="bg1"/>
                </a:solidFill>
              </a:rPr>
              <a:t>' по аналогии со </a:t>
            </a:r>
            <a:r>
              <a:rPr lang="ru-RU" sz="1600" b="1" cap="all" dirty="0" err="1">
                <a:solidFill>
                  <a:schemeClr val="bg1"/>
                </a:solidFill>
              </a:rPr>
              <a:t>Spotify</a:t>
            </a:r>
            <a:endParaRPr lang="ru-RU" sz="1600" b="1" cap="all" dirty="0">
              <a:solidFill>
                <a:schemeClr val="bg1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Технологии: </a:t>
            </a:r>
            <a:r>
              <a:rPr lang="ru-RU" sz="1600" b="1" cap="all" dirty="0" err="1">
                <a:solidFill>
                  <a:schemeClr val="bg1"/>
                </a:solidFill>
              </a:rPr>
              <a:t>Flask</a:t>
            </a:r>
            <a:r>
              <a:rPr lang="ru-RU" sz="1600" b="1" cap="all" dirty="0">
                <a:solidFill>
                  <a:schemeClr val="bg1"/>
                </a:solidFill>
              </a:rPr>
              <a:t>, </a:t>
            </a:r>
            <a:r>
              <a:rPr lang="ru-RU" sz="1600" b="1" cap="all" dirty="0" err="1">
                <a:solidFill>
                  <a:schemeClr val="bg1"/>
                </a:solidFill>
              </a:rPr>
              <a:t>SQLite</a:t>
            </a:r>
            <a:r>
              <a:rPr lang="ru-RU" sz="1600" b="1" cap="all" dirty="0">
                <a:solidFill>
                  <a:schemeClr val="bg1"/>
                </a:solidFill>
              </a:rPr>
              <a:t>, </a:t>
            </a:r>
            <a:r>
              <a:rPr lang="ru-RU" sz="1600" b="1" cap="all" dirty="0" err="1">
                <a:solidFill>
                  <a:schemeClr val="bg1"/>
                </a:solidFill>
              </a:rPr>
              <a:t>WebSocket</a:t>
            </a:r>
            <a:r>
              <a:rPr lang="ru-RU" sz="1600" b="1" cap="all" dirty="0">
                <a:solidFill>
                  <a:schemeClr val="bg1"/>
                </a:solidFill>
              </a:rPr>
              <a:t>, PWA, ИИ-анализ текста.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Безопасность: хеширование паролей, защита от инъекций, ролевая модель.</a:t>
            </a:r>
          </a:p>
          <a:p>
            <a:endParaRPr lang="ru-RU" b="1" cap="all" dirty="0">
              <a:solidFill>
                <a:schemeClr val="bg1"/>
              </a:solidFill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9C204A9A-7AC1-49E1-AD66-7EAE2F6111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 flipH="1">
            <a:off x="11885411" y="4530913"/>
            <a:ext cx="81687" cy="92237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41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363415" y="-558652"/>
            <a:ext cx="13185160" cy="74166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F7928-62D5-4BC2-B5D5-5C41225B3C16}"/>
              </a:ext>
            </a:extLst>
          </p:cNvPr>
          <p:cNvSpPr txBox="1"/>
          <p:nvPr/>
        </p:nvSpPr>
        <p:spPr>
          <a:xfrm>
            <a:off x="-107727" y="953439"/>
            <a:ext cx="5726097" cy="58477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chemeClr val="bg1"/>
                </a:solidFill>
              </a:rPr>
              <a:t>Логика проекта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4BAC618-90EB-4D5A-9A64-3E11FC90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28" y="2189707"/>
            <a:ext cx="5069150" cy="24211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cap="all" dirty="0">
                <a:solidFill>
                  <a:schemeClr val="bg1"/>
                </a:solidFill>
              </a:rPr>
              <a:t>ЛОГИКА ПРОЕКТА (КРАТКО)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cap="all" dirty="0">
                <a:solidFill>
                  <a:schemeClr val="bg1"/>
                </a:solidFill>
              </a:rPr>
              <a:t>ГЛАВНАЯ ИДЕЯ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b="1" cap="all" dirty="0">
                <a:solidFill>
                  <a:schemeClr val="bg1"/>
                </a:solidFill>
              </a:rPr>
              <a:t>Пользователь пишет о своих чувствах → ИИ анализирует настроение → Приложение помогает понять себя и мотивирует вести дневник через игры и общение с друзьями.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0C163-78D2-4958-AA5D-080826A27285}"/>
              </a:ext>
            </a:extLst>
          </p:cNvPr>
          <p:cNvSpPr txBox="1"/>
          <p:nvPr/>
        </p:nvSpPr>
        <p:spPr>
          <a:xfrm>
            <a:off x="5874058" y="507163"/>
            <a:ext cx="6402588" cy="206210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КЛЮЧЕВЫЕ МЕХАНИКИ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1. Анализ настроения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Текст → </a:t>
            </a:r>
            <a:r>
              <a:rPr lang="ru-RU" altLang="ru-RU" sz="1600" b="1" cap="all" dirty="0" err="1">
                <a:solidFill>
                  <a:schemeClr val="bg1"/>
                </a:solidFill>
              </a:rPr>
              <a:t>TextBlob</a:t>
            </a:r>
            <a:r>
              <a:rPr lang="ru-RU" altLang="ru-RU" sz="1600" b="1" cap="all" dirty="0">
                <a:solidFill>
                  <a:schemeClr val="bg1"/>
                </a:solidFill>
              </a:rPr>
              <a:t> + словари эмоций → Оценка (-1 до +1) → 😊/😐/😞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2. Геймификация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Записи → +10 XP → Уровни (100 XP = новый уровень)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600" b="1" cap="all" dirty="0">
                <a:solidFill>
                  <a:schemeClr val="bg1"/>
                </a:solidFill>
              </a:rPr>
              <a:t>Стрик (серия дней) → До 30 дней → Награды и достижения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9C204A9A-7AC1-49E1-AD66-7EAE2F61110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74058" y="2569266"/>
            <a:ext cx="6402588" cy="40831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3. Социальность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Друзья → Чат в реальном времени → Лента публичных записей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Группы → Общие дневники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4. Мотивация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Ежедневные бонусы (+10-50 XP)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Достижения ("Писатель", "Неделя огня")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ИИ-советы и музыка под настроение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ПОТОК ДАННЫХ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 err="1">
                <a:solidFill>
                  <a:schemeClr val="bg1"/>
                </a:solidFill>
              </a:rPr>
              <a:t>text</a:t>
            </a:r>
            <a:endParaRPr lang="ru-RU" altLang="ru-RU" sz="1400" b="1" cap="all" dirty="0">
              <a:solidFill>
                <a:schemeClr val="bg1"/>
              </a:solidFill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Форма → </a:t>
            </a:r>
            <a:r>
              <a:rPr lang="ru-RU" altLang="ru-RU" sz="1400" b="1" cap="all" dirty="0" err="1">
                <a:solidFill>
                  <a:schemeClr val="bg1"/>
                </a:solidFill>
              </a:rPr>
              <a:t>Flask</a:t>
            </a:r>
            <a:r>
              <a:rPr lang="ru-RU" altLang="ru-RU" sz="1400" b="1" cap="all" dirty="0">
                <a:solidFill>
                  <a:schemeClr val="bg1"/>
                </a:solidFill>
              </a:rPr>
              <a:t> → Анализ → БД → Статистика → Достижения → Уведомления → HTML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ТЕХНИЧЕСКАЯ СУТЬ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 err="1">
                <a:solidFill>
                  <a:schemeClr val="bg1"/>
                </a:solidFill>
              </a:rPr>
              <a:t>Flask</a:t>
            </a:r>
            <a:r>
              <a:rPr lang="ru-RU" altLang="ru-RU" sz="1400" b="1" cap="all" dirty="0">
                <a:solidFill>
                  <a:schemeClr val="bg1"/>
                </a:solidFill>
              </a:rPr>
              <a:t> обрабатывает запросы, </a:t>
            </a:r>
            <a:r>
              <a:rPr lang="ru-RU" altLang="ru-RU" sz="1400" b="1" cap="all" dirty="0" err="1">
                <a:solidFill>
                  <a:schemeClr val="bg1"/>
                </a:solidFill>
              </a:rPr>
              <a:t>SQLAlchemy</a:t>
            </a:r>
            <a:r>
              <a:rPr lang="ru-RU" altLang="ru-RU" sz="1400" b="1" cap="all" dirty="0">
                <a:solidFill>
                  <a:schemeClr val="bg1"/>
                </a:solidFill>
              </a:rPr>
              <a:t> работает с БД, </a:t>
            </a:r>
            <a:r>
              <a:rPr lang="ru-RU" altLang="ru-RU" sz="1400" b="1" cap="all" dirty="0" err="1">
                <a:solidFill>
                  <a:schemeClr val="bg1"/>
                </a:solidFill>
              </a:rPr>
              <a:t>WebSocket</a:t>
            </a:r>
            <a:r>
              <a:rPr lang="ru-RU" altLang="ru-RU" sz="1400" b="1" cap="all" dirty="0">
                <a:solidFill>
                  <a:schemeClr val="bg1"/>
                </a:solidFill>
              </a:rPr>
              <a:t> отвечает за чат, а JS на фронте показывает графики и анимации.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cap="all" dirty="0">
                <a:solidFill>
                  <a:schemeClr val="bg1"/>
                </a:solidFill>
              </a:rPr>
              <a:t>Простыми словами: Это "</a:t>
            </a:r>
            <a:r>
              <a:rPr lang="ru-RU" altLang="ru-RU" sz="1400" b="1" cap="all" dirty="0" err="1">
                <a:solidFill>
                  <a:schemeClr val="bg1"/>
                </a:solidFill>
              </a:rPr>
              <a:t>Тиндер</a:t>
            </a:r>
            <a:r>
              <a:rPr lang="ru-RU" altLang="ru-RU" sz="1400" b="1" cap="all" dirty="0">
                <a:solidFill>
                  <a:schemeClr val="bg1"/>
                </a:solidFill>
              </a:rPr>
              <a:t> для эмоций" + дневник + игра + соцсеть.</a:t>
            </a:r>
            <a:endParaRPr lang="ru-RU" altLang="ru-RU" sz="1100" b="1" cap="al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327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{9FBCF369-E8A9-4D67-8F26-BD0DEE8B9AC7}TF8a9b5915-b8c7-461e-8cdd-693d48b5e323138ae9a7_win32-fecfc327da1f</Template>
  <TotalTime>102</TotalTime>
  <Words>697</Words>
  <Application>Microsoft Office PowerPoint</Application>
  <PresentationFormat>Широкоэкранный</PresentationFormat>
  <Paragraphs>66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Gill Sans Nova Light</vt:lpstr>
      <vt:lpstr>quote-cjk-patch</vt:lpstr>
      <vt:lpstr>Times New Roman</vt:lpstr>
      <vt:lpstr>Пользовательская</vt:lpstr>
      <vt:lpstr>MoodMap Ultimate — это многофункциональное веб-приложение на Flask для отслеживания эмоционального состояния, ведения личного дневника и общения с друзьями. Проект сочетает в себе элементы дневника, социальной сети и игровые механики.</vt:lpstr>
      <vt:lpstr>Библиотеки которые мы использовали для создания проекта</vt:lpstr>
      <vt:lpstr>os/shutil — работа с файловой системой webbrowser/threading — автоматическое открытие браузера при запуске random — генерация случайных цитат и рекомендаций re — регулярные выражения для поиска тегов #хештег calendar — построение календаря настроения datetime — работа с датами и стриками Counter — подсчет частоты слов для облака тегов</vt:lpstr>
      <vt:lpstr>Презентация PowerPoint</vt:lpstr>
      <vt:lpstr>PWA (Progressive Web App) Приложение можно установить на домашний экран телефона как нативное! Адаптивный дизайн CSS Grid/Flexbox Медиа-запросы для мобильных Стеклянная морфология (backdrop-filter) Голосовой ввод  Пользователь может диктовать записи голосом!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MoodMap Ultimate — это многофункциональное веб-приложение на Flask для отслеживания эмоционального состояния, ведения личного дневника и общения с друзьями. Проект сочетает в себе элементы дневника, социальной сети и игровые механики.</dc:title>
  <dc:subject/>
  <dc:creator>Анна Наливайко</dc:creator>
  <cp:lastModifiedBy>Анна Наливайко</cp:lastModifiedBy>
  <cp:revision>9</cp:revision>
  <dcterms:created xsi:type="dcterms:W3CDTF">2026-05-15T19:32:26Z</dcterms:created>
  <dcterms:modified xsi:type="dcterms:W3CDTF">2026-05-16T17:37:04Z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